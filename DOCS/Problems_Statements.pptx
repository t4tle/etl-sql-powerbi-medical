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7" r:id="rId3"/>
    <p:sldId id="258"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8" d="100"/>
          <a:sy n="88" d="100"/>
        </p:scale>
        <p:origin x="4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B0F2-B63C-436B-A616-C71543BC3C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4BC9EC-E171-4671-A497-2F84E13C4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972130-534F-49B6-AB0D-D308824FD89D}"/>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5" name="Footer Placeholder 4">
            <a:extLst>
              <a:ext uri="{FF2B5EF4-FFF2-40B4-BE49-F238E27FC236}">
                <a16:creationId xmlns:a16="http://schemas.microsoft.com/office/drawing/2014/main" id="{44C63C71-B854-4CED-9773-F648EBB718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ECFC58-1797-4E63-810D-003A04937C13}"/>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3593955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1DC3D-601B-4DCE-8A8E-6CA2B33787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759FC-4427-482A-AC0F-760455F6E1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FA9147-DFA8-4AA9-8877-97C96A8BF415}"/>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5" name="Footer Placeholder 4">
            <a:extLst>
              <a:ext uri="{FF2B5EF4-FFF2-40B4-BE49-F238E27FC236}">
                <a16:creationId xmlns:a16="http://schemas.microsoft.com/office/drawing/2014/main" id="{F0017F7C-C842-4142-99EF-8E67282DA8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3C19A-26C1-4A37-8A87-394A3788356C}"/>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1989992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7477F-9585-454C-92E7-F8A29E5FB7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8987DE-1E5C-4560-96C4-02A7CF4299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AE74E0-B92D-4518-8042-9745D7099AF0}"/>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5" name="Footer Placeholder 4">
            <a:extLst>
              <a:ext uri="{FF2B5EF4-FFF2-40B4-BE49-F238E27FC236}">
                <a16:creationId xmlns:a16="http://schemas.microsoft.com/office/drawing/2014/main" id="{F1A18974-4DB5-4224-A2B2-669AB64A2E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14AC71-AEE1-4619-AAAE-77CDEB658A5F}"/>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1967754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C14B-8604-4286-B607-A5C088B721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7FFF26-BB9C-47A7-9440-CA61087255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494722-6D2E-44A5-B45D-915F20D81A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C71E64-C6B6-4401-9230-FB92A72877AA}"/>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6" name="Footer Placeholder 5">
            <a:extLst>
              <a:ext uri="{FF2B5EF4-FFF2-40B4-BE49-F238E27FC236}">
                <a16:creationId xmlns:a16="http://schemas.microsoft.com/office/drawing/2014/main" id="{B7B85C8D-F18A-46D1-892B-43E554A271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130939-0BA2-4765-B991-83B3216CE92E}"/>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411390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100A3-290F-40B7-9BEF-AAC84B77BB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4A5272-6FE2-4F93-9BDF-E4C451AEE1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0D9E57-4464-42AC-9990-8526EB949B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A60D7F-4E4A-4405-A0A3-6642A6F808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468A31-0F5C-406E-964C-77581DA9EA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6C8B55-2FA5-4436-B469-51F7319444CE}"/>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8" name="Footer Placeholder 7">
            <a:extLst>
              <a:ext uri="{FF2B5EF4-FFF2-40B4-BE49-F238E27FC236}">
                <a16:creationId xmlns:a16="http://schemas.microsoft.com/office/drawing/2014/main" id="{4602AB31-2FC7-4867-8614-E7B98A0FDE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240E26-2D0B-4414-A423-42830B09D1E4}"/>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3520987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06DCA-85F1-457E-A5EB-6480E2ED86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4F8BA3-B6DC-4B5B-8F21-06B263C49F40}"/>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4" name="Footer Placeholder 3">
            <a:extLst>
              <a:ext uri="{FF2B5EF4-FFF2-40B4-BE49-F238E27FC236}">
                <a16:creationId xmlns:a16="http://schemas.microsoft.com/office/drawing/2014/main" id="{26112C0F-FAE9-4FB1-90D2-4FC4B4BFC5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3A0D4E-2E3D-4B9E-8FB2-79D5D64FBF3B}"/>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204730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C2498-602F-466D-BCEC-A516E239EE74}"/>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3" name="Footer Placeholder 2">
            <a:extLst>
              <a:ext uri="{FF2B5EF4-FFF2-40B4-BE49-F238E27FC236}">
                <a16:creationId xmlns:a16="http://schemas.microsoft.com/office/drawing/2014/main" id="{040746E4-0EB0-42BF-A546-F22FF70BC8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678FC8-5F77-459B-8351-5EB654496029}"/>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2167692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6DB3B-E905-4A5C-91C4-3EAA1F4A24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E41980-16AA-4871-8FB9-24B83467AC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188225-1844-434B-9C2C-712436854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83482F-4C9E-47A9-87FD-B773ADDC16E3}"/>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6" name="Footer Placeholder 5">
            <a:extLst>
              <a:ext uri="{FF2B5EF4-FFF2-40B4-BE49-F238E27FC236}">
                <a16:creationId xmlns:a16="http://schemas.microsoft.com/office/drawing/2014/main" id="{73E3B63D-12E0-4530-9AF2-208F045A0A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02B04C-13E9-438D-9286-D4B006F8A9E3}"/>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3556366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816-4CB0-4B67-A784-0EF9EEE21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66A7C4-CD57-4796-AB77-47B0D65CFD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8A9FDE-A5CB-4274-8595-A5237196B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AEE9EA-1B48-454A-A3E7-DA9BB2603228}"/>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6" name="Footer Placeholder 5">
            <a:extLst>
              <a:ext uri="{FF2B5EF4-FFF2-40B4-BE49-F238E27FC236}">
                <a16:creationId xmlns:a16="http://schemas.microsoft.com/office/drawing/2014/main" id="{9A493448-0B30-438A-AA9F-DE15FB0062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FECA68-8619-4E12-BC12-743FCECDF58F}"/>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4142457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E4DB-1F78-4733-9E80-113A7B0865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EFDD72-119D-4874-99CB-27048D94C1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E262D1-EF75-4B43-B6E6-4B67DCEA911D}"/>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5" name="Footer Placeholder 4">
            <a:extLst>
              <a:ext uri="{FF2B5EF4-FFF2-40B4-BE49-F238E27FC236}">
                <a16:creationId xmlns:a16="http://schemas.microsoft.com/office/drawing/2014/main" id="{F8782503-7E23-492B-85AF-0D55501A76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C5F7F2-CAFE-4D2B-997B-D93A50A7DD4E}"/>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2709153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DCCA5D-83DB-4433-8CD4-816AA840D2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CFAB08-4989-4B54-805A-07D5DF9512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1ECA8F-643F-4971-A17E-E35BA04EB2EE}"/>
              </a:ext>
            </a:extLst>
          </p:cNvPr>
          <p:cNvSpPr>
            <a:spLocks noGrp="1"/>
          </p:cNvSpPr>
          <p:nvPr>
            <p:ph type="dt" sz="half" idx="10"/>
          </p:nvPr>
        </p:nvSpPr>
        <p:spPr/>
        <p:txBody>
          <a:bodyPr/>
          <a:lstStyle/>
          <a:p>
            <a:fld id="{086CDE85-D4B9-4C73-9AE8-F6E3712BC977}" type="datetimeFigureOut">
              <a:rPr lang="en-US" smtClean="0"/>
              <a:t>3/30/2020</a:t>
            </a:fld>
            <a:endParaRPr lang="en-US"/>
          </a:p>
        </p:txBody>
      </p:sp>
      <p:sp>
        <p:nvSpPr>
          <p:cNvPr id="5" name="Footer Placeholder 4">
            <a:extLst>
              <a:ext uri="{FF2B5EF4-FFF2-40B4-BE49-F238E27FC236}">
                <a16:creationId xmlns:a16="http://schemas.microsoft.com/office/drawing/2014/main" id="{6968D3BB-9B64-4EE5-8760-964CBCFEFD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976991-9E1D-4436-B6FB-A59EAD3B439D}"/>
              </a:ext>
            </a:extLst>
          </p:cNvPr>
          <p:cNvSpPr>
            <a:spLocks noGrp="1"/>
          </p:cNvSpPr>
          <p:nvPr>
            <p:ph type="sldNum" sz="quarter" idx="12"/>
          </p:nvPr>
        </p:nvSpPr>
        <p:spPr/>
        <p:txBody>
          <a:bodyPr/>
          <a:lstStyle/>
          <a:p>
            <a:fld id="{26F16454-D2C5-4218-846F-D70CB8ED5692}" type="slidenum">
              <a:rPr lang="en-US" smtClean="0"/>
              <a:t>‹#›</a:t>
            </a:fld>
            <a:endParaRPr lang="en-US"/>
          </a:p>
        </p:txBody>
      </p:sp>
    </p:spTree>
    <p:extLst>
      <p:ext uri="{BB962C8B-B14F-4D97-AF65-F5344CB8AC3E}">
        <p14:creationId xmlns:p14="http://schemas.microsoft.com/office/powerpoint/2010/main" val="2869407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1F9DA7-2F05-46FA-98B2-949E663165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32851A-3609-4A9D-A795-D8E9C3F753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4099F-BD0A-469E-8223-F19E9E0AB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6CDE85-D4B9-4C73-9AE8-F6E3712BC977}" type="datetimeFigureOut">
              <a:rPr lang="en-US" smtClean="0"/>
              <a:t>3/30/2020</a:t>
            </a:fld>
            <a:endParaRPr lang="en-US"/>
          </a:p>
        </p:txBody>
      </p:sp>
      <p:sp>
        <p:nvSpPr>
          <p:cNvPr id="5" name="Footer Placeholder 4">
            <a:extLst>
              <a:ext uri="{FF2B5EF4-FFF2-40B4-BE49-F238E27FC236}">
                <a16:creationId xmlns:a16="http://schemas.microsoft.com/office/drawing/2014/main" id="{4EB05116-DA6D-4FFB-945B-D01F4FA845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615E4D-465C-4D73-BF78-166D89E196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F16454-D2C5-4218-846F-D70CB8ED5692}" type="slidenum">
              <a:rPr lang="en-US" smtClean="0"/>
              <a:t>‹#›</a:t>
            </a:fld>
            <a:endParaRPr lang="en-US"/>
          </a:p>
        </p:txBody>
      </p:sp>
    </p:spTree>
    <p:extLst>
      <p:ext uri="{BB962C8B-B14F-4D97-AF65-F5344CB8AC3E}">
        <p14:creationId xmlns:p14="http://schemas.microsoft.com/office/powerpoint/2010/main" val="2720094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powerbi.microsoft.com/en-us/get-started/"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en-us/free/mysql/search/?&amp;ef_id=Cj0KCQjwr-_tBRCMARIsAN413WRFTbM03Q-3JDBTkpqkG5XQ2aGnAK3ANYbpBJWDI90f3bwyx3Z8xjUaAnBAEALw_wcB:G:s&amp;OCID=AID2000128_SEM_oBI4mBm7&amp;MarinID=oBI4mBm7_307794721099_mysql_e_c__46727497112_kwd-294899509176&amp;lnkd=Google_Azure_Nonbrand&amp;gclid=Cj0KCQjwr-_tBRCMARIsAN413WRFTbM03Q-3JDBTkpqkG5XQ2aGnAK3ANYbpBJWDI90f3bwyx3Z8xjUaAnBAEALw_wcB"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0FE34-B7F1-44A0-8EAC-49E9F9D75D77}"/>
              </a:ext>
            </a:extLst>
          </p:cNvPr>
          <p:cNvSpPr>
            <a:spLocks noGrp="1"/>
          </p:cNvSpPr>
          <p:nvPr>
            <p:ph type="title"/>
          </p:nvPr>
        </p:nvSpPr>
        <p:spPr>
          <a:xfrm>
            <a:off x="838200" y="18255"/>
            <a:ext cx="10515600" cy="1325563"/>
          </a:xfrm>
        </p:spPr>
        <p:txBody>
          <a:bodyPr/>
          <a:lstStyle/>
          <a:p>
            <a:pPr algn="ctr"/>
            <a:r>
              <a:rPr lang="en-US" b="1" dirty="0"/>
              <a:t>INSTRUCTIONS</a:t>
            </a:r>
          </a:p>
        </p:txBody>
      </p:sp>
      <p:sp>
        <p:nvSpPr>
          <p:cNvPr id="3" name="Content Placeholder 2">
            <a:extLst>
              <a:ext uri="{FF2B5EF4-FFF2-40B4-BE49-F238E27FC236}">
                <a16:creationId xmlns:a16="http://schemas.microsoft.com/office/drawing/2014/main" id="{E09EC3B7-F2FB-46DE-A7D3-ADA6D32621EE}"/>
              </a:ext>
            </a:extLst>
          </p:cNvPr>
          <p:cNvSpPr>
            <a:spLocks noGrp="1"/>
          </p:cNvSpPr>
          <p:nvPr>
            <p:ph idx="1"/>
          </p:nvPr>
        </p:nvSpPr>
        <p:spPr>
          <a:xfrm>
            <a:off x="838200" y="1192696"/>
            <a:ext cx="10515600" cy="5274365"/>
          </a:xfrm>
        </p:spPr>
        <p:txBody>
          <a:bodyPr>
            <a:normAutofit fontScale="77500" lnSpcReduction="20000"/>
          </a:bodyPr>
          <a:lstStyle/>
          <a:p>
            <a:r>
              <a:rPr lang="en-US" dirty="0"/>
              <a:t>As a quality analyst, you are expected to perform the scope of following tasks:</a:t>
            </a:r>
          </a:p>
          <a:p>
            <a:endParaRPr lang="en-US" dirty="0"/>
          </a:p>
          <a:p>
            <a:pPr lvl="1"/>
            <a:r>
              <a:rPr lang="en-US" dirty="0" smtClean="0"/>
              <a:t>UNDERSTANDING REQUIREMENTS: </a:t>
            </a:r>
            <a:r>
              <a:rPr lang="en-US" dirty="0"/>
              <a:t>A quality analyst should ask questions to ascertain the clinical context of data requests. You are expected to list the follow up questions that you would ask to stakeholders.</a:t>
            </a:r>
          </a:p>
          <a:p>
            <a:pPr lvl="1"/>
            <a:endParaRPr lang="en-US" dirty="0"/>
          </a:p>
          <a:p>
            <a:pPr lvl="1"/>
            <a:r>
              <a:rPr lang="en-US" dirty="0" smtClean="0"/>
              <a:t>REPORTING: </a:t>
            </a:r>
            <a:r>
              <a:rPr lang="en-US" dirty="0"/>
              <a:t>A quality analyst should be able to use the Clarity data dictionary and SQL management studio to build a report by linking clinical data components. You are expected to complete a SQL query to display all of the data components listed on the slide. Clarity data dictionary is attached in the email and you will need to acquire an SQL management studio to write the script to pull data components from the data tables attached in the email. Please note that some data fields are blinded to protect PHI.</a:t>
            </a:r>
          </a:p>
          <a:p>
            <a:pPr marL="457200" lvl="1" indent="0">
              <a:buNone/>
            </a:pPr>
            <a:endParaRPr lang="en-US" dirty="0"/>
          </a:p>
          <a:p>
            <a:pPr lvl="1"/>
            <a:r>
              <a:rPr lang="en-US" dirty="0" smtClean="0"/>
              <a:t>DATA VISUALIZATION: </a:t>
            </a:r>
            <a:r>
              <a:rPr lang="en-US" dirty="0"/>
              <a:t>A quality analyst should be able to build a dashboard with a visualization tool. The quality department is currently using the Power </a:t>
            </a:r>
            <a:r>
              <a:rPr lang="en-US" dirty="0" smtClean="0"/>
              <a:t>BI or a similar tool. </a:t>
            </a:r>
            <a:r>
              <a:rPr lang="en-US" dirty="0"/>
              <a:t>Please click the link below to obtain the free trial.</a:t>
            </a:r>
          </a:p>
          <a:p>
            <a:pPr lvl="2"/>
            <a:r>
              <a:rPr lang="en-US" dirty="0">
                <a:hlinkClick r:id="rId2"/>
              </a:rPr>
              <a:t>https://powerbi.microsoft.com/en-us/get-started/</a:t>
            </a:r>
            <a:endParaRPr lang="en-US" dirty="0"/>
          </a:p>
          <a:p>
            <a:pPr marL="914400" lvl="2" indent="0">
              <a:buNone/>
            </a:pPr>
            <a:endParaRPr lang="en-US" dirty="0"/>
          </a:p>
          <a:p>
            <a:pPr lvl="1"/>
            <a:r>
              <a:rPr lang="en-US" dirty="0"/>
              <a:t>PROCESS IMPROVEMENT </a:t>
            </a:r>
            <a:r>
              <a:rPr lang="en-US" dirty="0" smtClean="0"/>
              <a:t>RECOMMENDATIONS: </a:t>
            </a:r>
            <a:r>
              <a:rPr lang="en-US" dirty="0"/>
              <a:t>A quality analyst should be able to facilitate performance/process improvement projects by managing interdisciplinary teams and utilizing PI tools such SPC </a:t>
            </a:r>
            <a:r>
              <a:rPr lang="en-US" dirty="0" smtClean="0"/>
              <a:t>charts, flow charts, or fishbone diagrams. </a:t>
            </a:r>
            <a:r>
              <a:rPr lang="en-US" dirty="0"/>
              <a:t>You are expected to answer the questions for each scenario with proper PI engagement skills.</a:t>
            </a:r>
          </a:p>
        </p:txBody>
      </p:sp>
    </p:spTree>
    <p:extLst>
      <p:ext uri="{BB962C8B-B14F-4D97-AF65-F5344CB8AC3E}">
        <p14:creationId xmlns:p14="http://schemas.microsoft.com/office/powerpoint/2010/main" val="1659169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400A4-B76F-4409-A5DE-0AC8E0F0DCF8}"/>
              </a:ext>
            </a:extLst>
          </p:cNvPr>
          <p:cNvSpPr>
            <a:spLocks noGrp="1"/>
          </p:cNvSpPr>
          <p:nvPr>
            <p:ph type="title"/>
          </p:nvPr>
        </p:nvSpPr>
        <p:spPr>
          <a:xfrm>
            <a:off x="838200" y="0"/>
            <a:ext cx="10515600" cy="1325563"/>
          </a:xfrm>
        </p:spPr>
        <p:txBody>
          <a:bodyPr/>
          <a:lstStyle/>
          <a:p>
            <a:pPr algn="ctr"/>
            <a:r>
              <a:rPr lang="en-US" b="1" dirty="0"/>
              <a:t>UNDERSTANDING REQUIREMENTS</a:t>
            </a:r>
          </a:p>
        </p:txBody>
      </p:sp>
      <p:sp>
        <p:nvSpPr>
          <p:cNvPr id="3" name="Content Placeholder 2">
            <a:extLst>
              <a:ext uri="{FF2B5EF4-FFF2-40B4-BE49-F238E27FC236}">
                <a16:creationId xmlns:a16="http://schemas.microsoft.com/office/drawing/2014/main" id="{46A46DAD-2CBE-4FE5-BE96-C755F474E61F}"/>
              </a:ext>
            </a:extLst>
          </p:cNvPr>
          <p:cNvSpPr>
            <a:spLocks noGrp="1"/>
          </p:cNvSpPr>
          <p:nvPr>
            <p:ph idx="1"/>
          </p:nvPr>
        </p:nvSpPr>
        <p:spPr>
          <a:xfrm>
            <a:off x="838200" y="1325563"/>
            <a:ext cx="10515600" cy="4997520"/>
          </a:xfrm>
        </p:spPr>
        <p:txBody>
          <a:bodyPr/>
          <a:lstStyle/>
          <a:p>
            <a:r>
              <a:rPr lang="en-US" dirty="0"/>
              <a:t>Data Request: The fecal immunochemical test (FIT) is a screening test for colon cancer. If the FIT results come back positive for blood in the stool, it is indicated for follow-up procedures such as colonoscopy. The multidisciplinary team needs a report that will help GI lab to follow up with patients with positive FIT test results to close the loop on diagnostic testing and even potential care for cancer.</a:t>
            </a:r>
          </a:p>
          <a:p>
            <a:endParaRPr lang="en-US" dirty="0"/>
          </a:p>
          <a:p>
            <a:r>
              <a:rPr lang="en-US" dirty="0"/>
              <a:t>What are the questions should be asked in order to build the report?</a:t>
            </a:r>
          </a:p>
        </p:txBody>
      </p:sp>
    </p:spTree>
    <p:extLst>
      <p:ext uri="{BB962C8B-B14F-4D97-AF65-F5344CB8AC3E}">
        <p14:creationId xmlns:p14="http://schemas.microsoft.com/office/powerpoint/2010/main" val="3335111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400A4-B76F-4409-A5DE-0AC8E0F0DCF8}"/>
              </a:ext>
            </a:extLst>
          </p:cNvPr>
          <p:cNvSpPr>
            <a:spLocks noGrp="1"/>
          </p:cNvSpPr>
          <p:nvPr>
            <p:ph type="title"/>
          </p:nvPr>
        </p:nvSpPr>
        <p:spPr>
          <a:xfrm>
            <a:off x="838200" y="0"/>
            <a:ext cx="10515600" cy="1325563"/>
          </a:xfrm>
        </p:spPr>
        <p:txBody>
          <a:bodyPr/>
          <a:lstStyle/>
          <a:p>
            <a:pPr algn="ctr"/>
            <a:r>
              <a:rPr lang="en-US" b="1" dirty="0"/>
              <a:t>REPORTING</a:t>
            </a:r>
          </a:p>
        </p:txBody>
      </p:sp>
      <p:sp>
        <p:nvSpPr>
          <p:cNvPr id="3" name="Content Placeholder 2">
            <a:extLst>
              <a:ext uri="{FF2B5EF4-FFF2-40B4-BE49-F238E27FC236}">
                <a16:creationId xmlns:a16="http://schemas.microsoft.com/office/drawing/2014/main" id="{46A46DAD-2CBE-4FE5-BE96-C755F474E61F}"/>
              </a:ext>
            </a:extLst>
          </p:cNvPr>
          <p:cNvSpPr>
            <a:spLocks noGrp="1"/>
          </p:cNvSpPr>
          <p:nvPr>
            <p:ph idx="1"/>
          </p:nvPr>
        </p:nvSpPr>
        <p:spPr>
          <a:xfrm>
            <a:off x="838200" y="1325563"/>
            <a:ext cx="10515600" cy="4997520"/>
          </a:xfrm>
        </p:spPr>
        <p:txBody>
          <a:bodyPr>
            <a:normAutofit fontScale="85000" lnSpcReduction="20000"/>
          </a:bodyPr>
          <a:lstStyle/>
          <a:p>
            <a:r>
              <a:rPr lang="en-US" dirty="0"/>
              <a:t>Please use Clarity data dictionary (attached in the email) to build a report with the following data components:</a:t>
            </a:r>
          </a:p>
          <a:p>
            <a:pPr lvl="1"/>
            <a:r>
              <a:rPr lang="en-US" dirty="0"/>
              <a:t>Patient Name</a:t>
            </a:r>
          </a:p>
          <a:p>
            <a:pPr lvl="1"/>
            <a:r>
              <a:rPr lang="en-US" dirty="0"/>
              <a:t>MRN</a:t>
            </a:r>
          </a:p>
          <a:p>
            <a:pPr lvl="1"/>
            <a:r>
              <a:rPr lang="en-US" dirty="0"/>
              <a:t>FIT test ordering date</a:t>
            </a:r>
          </a:p>
          <a:p>
            <a:pPr lvl="1"/>
            <a:r>
              <a:rPr lang="en-US" dirty="0"/>
              <a:t>FIT test order status</a:t>
            </a:r>
          </a:p>
          <a:p>
            <a:pPr lvl="1"/>
            <a:r>
              <a:rPr lang="en-US" dirty="0"/>
              <a:t>FIT test result</a:t>
            </a:r>
          </a:p>
          <a:p>
            <a:pPr lvl="1"/>
            <a:r>
              <a:rPr lang="en-US" dirty="0"/>
              <a:t>FIT result date</a:t>
            </a:r>
          </a:p>
          <a:p>
            <a:pPr lvl="1"/>
            <a:r>
              <a:rPr lang="en-US" dirty="0"/>
              <a:t>Patient Age at the time of the FIT positive result</a:t>
            </a:r>
          </a:p>
          <a:p>
            <a:pPr lvl="1"/>
            <a:r>
              <a:rPr lang="en-US" dirty="0"/>
              <a:t>GI procedure date</a:t>
            </a:r>
          </a:p>
          <a:p>
            <a:pPr lvl="1"/>
            <a:r>
              <a:rPr lang="en-US" dirty="0"/>
              <a:t>Primary GI procedure name</a:t>
            </a:r>
          </a:p>
          <a:p>
            <a:pPr lvl="1"/>
            <a:r>
              <a:rPr lang="en-US" dirty="0"/>
              <a:t>Specimen number</a:t>
            </a:r>
          </a:p>
          <a:p>
            <a:pPr lvl="1"/>
            <a:r>
              <a:rPr lang="en-US" dirty="0"/>
              <a:t>Specimen source</a:t>
            </a:r>
          </a:p>
          <a:p>
            <a:pPr lvl="1"/>
            <a:r>
              <a:rPr lang="en-US" dirty="0"/>
              <a:t>Biopsy result</a:t>
            </a:r>
          </a:p>
          <a:p>
            <a:pPr marL="457200" lvl="1" indent="0">
              <a:buNone/>
            </a:pPr>
            <a:endParaRPr lang="en-US" dirty="0"/>
          </a:p>
          <a:p>
            <a:pPr marL="457200" lvl="1" indent="0">
              <a:buNone/>
            </a:pPr>
            <a:r>
              <a:rPr lang="en-US" dirty="0"/>
              <a:t>Click the link below to download a free copy of My SQL or use an SQL system of your choice:</a:t>
            </a:r>
            <a:endParaRPr lang="en-US" dirty="0">
              <a:hlinkClick r:id="rId2"/>
            </a:endParaRPr>
          </a:p>
          <a:p>
            <a:pPr lvl="1"/>
            <a:r>
              <a:rPr lang="en-US" dirty="0">
                <a:hlinkClick r:id="rId2"/>
              </a:rPr>
              <a:t>Free My SQL</a:t>
            </a:r>
            <a:endParaRPr lang="en-US" dirty="0"/>
          </a:p>
        </p:txBody>
      </p:sp>
    </p:spTree>
    <p:extLst>
      <p:ext uri="{BB962C8B-B14F-4D97-AF65-F5344CB8AC3E}">
        <p14:creationId xmlns:p14="http://schemas.microsoft.com/office/powerpoint/2010/main" val="35063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400A4-B76F-4409-A5DE-0AC8E0F0DCF8}"/>
              </a:ext>
            </a:extLst>
          </p:cNvPr>
          <p:cNvSpPr>
            <a:spLocks noGrp="1"/>
          </p:cNvSpPr>
          <p:nvPr>
            <p:ph type="title"/>
          </p:nvPr>
        </p:nvSpPr>
        <p:spPr>
          <a:xfrm>
            <a:off x="838200" y="0"/>
            <a:ext cx="10515600" cy="1325563"/>
          </a:xfrm>
        </p:spPr>
        <p:txBody>
          <a:bodyPr/>
          <a:lstStyle/>
          <a:p>
            <a:pPr algn="ctr"/>
            <a:r>
              <a:rPr lang="en-US" b="1" dirty="0"/>
              <a:t>DATA VISUALIZATION</a:t>
            </a:r>
          </a:p>
        </p:txBody>
      </p:sp>
      <p:sp>
        <p:nvSpPr>
          <p:cNvPr id="3" name="Content Placeholder 2">
            <a:extLst>
              <a:ext uri="{FF2B5EF4-FFF2-40B4-BE49-F238E27FC236}">
                <a16:creationId xmlns:a16="http://schemas.microsoft.com/office/drawing/2014/main" id="{46A46DAD-2CBE-4FE5-BE96-C755F474E61F}"/>
              </a:ext>
            </a:extLst>
          </p:cNvPr>
          <p:cNvSpPr>
            <a:spLocks noGrp="1"/>
          </p:cNvSpPr>
          <p:nvPr>
            <p:ph idx="1"/>
          </p:nvPr>
        </p:nvSpPr>
        <p:spPr>
          <a:xfrm>
            <a:off x="838200" y="1325563"/>
            <a:ext cx="10515600" cy="4997520"/>
          </a:xfrm>
        </p:spPr>
        <p:txBody>
          <a:bodyPr/>
          <a:lstStyle/>
          <a:p>
            <a:r>
              <a:rPr lang="en-US" dirty="0"/>
              <a:t>Build a FIT clinical pathway dashboard in Power BI to answer the following questions:</a:t>
            </a:r>
          </a:p>
          <a:p>
            <a:endParaRPr lang="en-US" sz="1000" dirty="0"/>
          </a:p>
          <a:p>
            <a:pPr lvl="1"/>
            <a:r>
              <a:rPr lang="en-US" dirty="0"/>
              <a:t>How many FIT are ordered? How’s the trend in volume?</a:t>
            </a:r>
          </a:p>
          <a:p>
            <a:pPr lvl="1"/>
            <a:r>
              <a:rPr lang="en-US" dirty="0"/>
              <a:t>What’s the percentage of the test completed?</a:t>
            </a:r>
          </a:p>
          <a:p>
            <a:pPr lvl="1"/>
            <a:r>
              <a:rPr lang="en-US" dirty="0"/>
              <a:t>How long does it take from FIT order to result?</a:t>
            </a:r>
          </a:p>
          <a:p>
            <a:pPr lvl="1"/>
            <a:r>
              <a:rPr lang="en-US" dirty="0"/>
              <a:t>What’s the percentage of FIT positive result?</a:t>
            </a:r>
          </a:p>
          <a:p>
            <a:pPr lvl="1"/>
            <a:r>
              <a:rPr lang="en-US" dirty="0"/>
              <a:t>What’s the percentage of the patients with positive result who have come to the GI lab for Colonoscopy this year?</a:t>
            </a:r>
          </a:p>
          <a:p>
            <a:pPr lvl="1"/>
            <a:r>
              <a:rPr lang="en-US" dirty="0"/>
              <a:t>How long does it take from FIT positive result to colonoscopy at GI lab?</a:t>
            </a:r>
          </a:p>
          <a:p>
            <a:pPr lvl="1"/>
            <a:r>
              <a:rPr lang="en-US" dirty="0"/>
              <a:t>What’s the percentage of malignancy out of the specimens taken from colonoscopy cases?</a:t>
            </a:r>
          </a:p>
          <a:p>
            <a:pPr lvl="1"/>
            <a:endParaRPr lang="en-US" dirty="0"/>
          </a:p>
        </p:txBody>
      </p:sp>
    </p:spTree>
    <p:extLst>
      <p:ext uri="{BB962C8B-B14F-4D97-AF65-F5344CB8AC3E}">
        <p14:creationId xmlns:p14="http://schemas.microsoft.com/office/powerpoint/2010/main" val="2334677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6DA42-0268-4C6B-A671-137AA181D408}"/>
              </a:ext>
            </a:extLst>
          </p:cNvPr>
          <p:cNvSpPr>
            <a:spLocks noGrp="1"/>
          </p:cNvSpPr>
          <p:nvPr>
            <p:ph type="title"/>
          </p:nvPr>
        </p:nvSpPr>
        <p:spPr>
          <a:xfrm>
            <a:off x="0" y="18255"/>
            <a:ext cx="12192000" cy="1325563"/>
          </a:xfrm>
        </p:spPr>
        <p:txBody>
          <a:bodyPr/>
          <a:lstStyle/>
          <a:p>
            <a:pPr algn="ctr"/>
            <a:r>
              <a:rPr lang="en-US" b="1" dirty="0"/>
              <a:t>PROCESS IMPROVEMENT RECOMMENDATIONS</a:t>
            </a:r>
            <a:r>
              <a:rPr lang="en-US" b="1" dirty="0" smtClean="0"/>
              <a:t/>
            </a:r>
            <a:br>
              <a:rPr lang="en-US" b="1" dirty="0" smtClean="0"/>
            </a:br>
            <a:r>
              <a:rPr lang="en-US" b="1" dirty="0" smtClean="0"/>
              <a:t>SCENARIO </a:t>
            </a:r>
            <a:r>
              <a:rPr lang="en-US" b="1" dirty="0"/>
              <a:t>1</a:t>
            </a:r>
          </a:p>
        </p:txBody>
      </p:sp>
      <p:sp>
        <p:nvSpPr>
          <p:cNvPr id="3" name="Content Placeholder 2">
            <a:extLst>
              <a:ext uri="{FF2B5EF4-FFF2-40B4-BE49-F238E27FC236}">
                <a16:creationId xmlns:a16="http://schemas.microsoft.com/office/drawing/2014/main" id="{11B8C124-9C01-4BA9-81D6-A9D700384797}"/>
              </a:ext>
            </a:extLst>
          </p:cNvPr>
          <p:cNvSpPr>
            <a:spLocks noGrp="1"/>
          </p:cNvSpPr>
          <p:nvPr>
            <p:ph idx="1"/>
          </p:nvPr>
        </p:nvSpPr>
        <p:spPr>
          <a:xfrm>
            <a:off x="838200" y="1343818"/>
            <a:ext cx="10515600" cy="4833145"/>
          </a:xfrm>
        </p:spPr>
        <p:txBody>
          <a:bodyPr/>
          <a:lstStyle/>
          <a:p>
            <a:r>
              <a:rPr lang="en-US" b="1" dirty="0"/>
              <a:t>Situation: </a:t>
            </a:r>
            <a:r>
              <a:rPr lang="en-US" dirty="0"/>
              <a:t>You are a PI coach attending a team meeting on the GI lab. The frontline leader, the clinical staff manager for the GI lab, is present as well as 3 nurses, a tech and the unit clerk. Prior to the meeting, the team has identified one of the root causes of the issue they are addressing and today’s meeting is to develop some ideas to test to try to solve the root cause. During the meeting, one of the staff nurses is very negative with whatever ideas are presented, making comments such as, “we’ve tried that before and it didn’t work”; “it will never work”, etc. The frontline leader seems at a loss as to how to address the situation. </a:t>
            </a:r>
          </a:p>
          <a:p>
            <a:r>
              <a:rPr lang="en-US" b="1" dirty="0"/>
              <a:t>Question: </a:t>
            </a:r>
            <a:r>
              <a:rPr lang="en-US" dirty="0"/>
              <a:t>How would you handle the situation?</a:t>
            </a:r>
          </a:p>
        </p:txBody>
      </p:sp>
    </p:spTree>
    <p:extLst>
      <p:ext uri="{BB962C8B-B14F-4D97-AF65-F5344CB8AC3E}">
        <p14:creationId xmlns:p14="http://schemas.microsoft.com/office/powerpoint/2010/main" val="624274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680</Words>
  <Application>Microsoft Office PowerPoint</Application>
  <PresentationFormat>Widescreen</PresentationFormat>
  <Paragraphs>45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INSTRUCTIONS</vt:lpstr>
      <vt:lpstr>UNDERSTANDING REQUIREMENTS</vt:lpstr>
      <vt:lpstr>REPORTING</vt:lpstr>
      <vt:lpstr>DATA VISUALIZATION</vt:lpstr>
      <vt:lpstr>PROCESS IMPROVEMENT RECOMMENDATIONS SCENARIO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Jieun Kim</dc:creator>
  <cp:lastModifiedBy>Jeff Herald</cp:lastModifiedBy>
  <cp:revision>25</cp:revision>
  <dcterms:created xsi:type="dcterms:W3CDTF">2019-11-01T11:30:05Z</dcterms:created>
  <dcterms:modified xsi:type="dcterms:W3CDTF">2020-03-30T18:05:32Z</dcterms:modified>
</cp:coreProperties>
</file>